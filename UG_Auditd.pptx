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2"/>
  </p:notesMasterIdLst>
  <p:sldIdLst>
    <p:sldId id="256" r:id="rId2"/>
    <p:sldId id="259" r:id="rId3"/>
    <p:sldId id="258" r:id="rId4"/>
    <p:sldId id="260" r:id="rId5"/>
    <p:sldId id="261" r:id="rId6"/>
    <p:sldId id="257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1218"/>
  </p:normalViewPr>
  <p:slideViewPr>
    <p:cSldViewPr snapToGrid="0">
      <p:cViewPr varScale="1">
        <p:scale>
          <a:sx n="111" d="100"/>
          <a:sy n="111" d="100"/>
        </p:scale>
        <p:origin x="7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D7C05-97EB-6A49-AB33-0895ED8B8F07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A1F4B-7A83-2448-815D-B79B3A0CEC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663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A1F4B-7A83-2448-815D-B79B3A0CEC6A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583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127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117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094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629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148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781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417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907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282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002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437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4027A-F2DD-3643-A123-4A73F940402E}" type="datetimeFigureOut">
              <a:rPr lang="en-DE" smtClean="0"/>
              <a:t>11.12.25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184EA-D847-3A44-9867-488EF37348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452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eo23x0/auditd/blob/master/audit.rul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80108E91-4217-ED13-31F4-5DF13338B565}"/>
              </a:ext>
            </a:extLst>
          </p:cNvPr>
          <p:cNvSpPr txBox="1">
            <a:spLocks/>
          </p:cNvSpPr>
          <p:nvPr/>
        </p:nvSpPr>
        <p:spPr>
          <a:xfrm>
            <a:off x="748800" y="1828800"/>
            <a:ext cx="10605600" cy="433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Linux-Audit-Framework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zur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Überwachung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von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Systemereignissen</a:t>
            </a:r>
            <a:endParaRPr lang="en-GB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Aufzeichnung von System- und Nutzeraktivitäten</a:t>
            </a:r>
            <a:b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basierend auf Regeln (Audit Log Policy)</a:t>
            </a:r>
          </a:p>
          <a:p>
            <a:pPr indent="-342900" algn="l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Interagiert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mit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dem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Kernel und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zeichnet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Systemaufrufe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&amp;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sicherheitsrelevante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Aktionen</a:t>
            </a:r>
            <a:endParaRPr lang="en-GB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    auf</a:t>
            </a:r>
          </a:p>
          <a:p>
            <a:pPr indent="-342900" algn="l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Ereignisse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werden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detailliert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und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mit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Zeitstempel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protokolliert</a:t>
            </a:r>
            <a:endParaRPr lang="en-GB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indent="-342900" algn="l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Administratoren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können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gezielte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Audit-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Regeln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definieren</a:t>
            </a:r>
            <a:endParaRPr lang="en-GB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indent="-342900" algn="l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Einsatz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für Compliance, Incident Response und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forensische</a:t>
            </a:r>
            <a:r>
              <a:rPr lang="en-GB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Analysen</a:t>
            </a:r>
            <a:endParaRPr lang="en-GB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Loggt per Default in 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var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/log/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audit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audit.log</a:t>
            </a:r>
            <a:endParaRPr lang="de-DE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indent="-342900" algn="l">
              <a:buFont typeface="Arial" panose="020B0604020202020204" pitchFamily="34" charset="0"/>
              <a:buChar char="•"/>
            </a:pPr>
            <a:endParaRPr lang="en-GB" sz="21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706F6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B022071-E534-06D9-2D71-42423C83B5CF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Einführung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A5723D1C-C59B-01DF-5F60-038CA8E1D899}"/>
              </a:ext>
            </a:extLst>
          </p:cNvPr>
          <p:cNvSpPr txBox="1">
            <a:spLocks/>
          </p:cNvSpPr>
          <p:nvPr/>
        </p:nvSpPr>
        <p:spPr>
          <a:xfrm>
            <a:off x="748800" y="360000"/>
            <a:ext cx="10605600" cy="57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Das Linux Audit System (</a:t>
            </a:r>
            <a:r>
              <a:rPr lang="de-DE" dirty="0" err="1"/>
              <a:t>Auditd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22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6">
            <a:extLst>
              <a:ext uri="{FF2B5EF4-FFF2-40B4-BE49-F238E27FC236}">
                <a16:creationId xmlns:a16="http://schemas.microsoft.com/office/drawing/2014/main" id="{3DBAB643-1DB1-FA5E-F599-19E518E3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703" y="1101827"/>
            <a:ext cx="6305502" cy="5018953"/>
          </a:xfrm>
          <a:prstGeom prst="rect">
            <a:avLst/>
          </a:prstGeom>
        </p:spPr>
      </p:pic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BFDCF3C-2BAB-E782-4216-92645D582499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Überblick</a:t>
            </a:r>
            <a:endParaRPr lang="de-DE" dirty="0"/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6E41EB47-A185-A645-22D8-8AD34B17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F2EC2CC4-C96D-F980-85DC-8A18E9FE77AC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Auditctl</a:t>
            </a:r>
            <a:endParaRPr lang="de-DE" dirty="0"/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Rot: Kommuniziert mit dem Kernel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Blau: Zentrale Komponenten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Grün: Weiterleitung der Logs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Gelb: Operieren auf lokalen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Funktionsweise von Auditd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 err="1"/>
              <a:t>Auditctl</a:t>
            </a:r>
            <a:r>
              <a:rPr lang="de-DE" dirty="0"/>
              <a:t> interagiert mit den Kernel Audit</a:t>
            </a:r>
          </a:p>
          <a:p>
            <a:pPr lvl="1"/>
            <a:r>
              <a:rPr lang="de-DE" dirty="0"/>
              <a:t>     Komponenten um Regeln und Einstellungen</a:t>
            </a:r>
          </a:p>
          <a:p>
            <a:pPr lvl="1"/>
            <a:r>
              <a:rPr lang="de-DE" dirty="0"/>
              <a:t>     für die Eventerstellung zu managen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 err="1"/>
              <a:t>Audisp</a:t>
            </a:r>
            <a:r>
              <a:rPr lang="de-DE" dirty="0"/>
              <a:t> interagiert mit dem Audit </a:t>
            </a:r>
            <a:r>
              <a:rPr lang="de-DE" dirty="0" err="1"/>
              <a:t>Daemon</a:t>
            </a:r>
            <a:r>
              <a:rPr lang="de-DE" dirty="0"/>
              <a:t> für die Verteilung der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Oft wird das Linux Audit System mit „Auditd“ bezeichnet!</a:t>
            </a:r>
          </a:p>
        </p:txBody>
      </p:sp>
    </p:spTree>
    <p:extLst>
      <p:ext uri="{BB962C8B-B14F-4D97-AF65-F5344CB8AC3E}">
        <p14:creationId xmlns:p14="http://schemas.microsoft.com/office/powerpoint/2010/main" val="227520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9EE41F42-8624-34CC-3D99-2B46DE0705F4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Regelerstellung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1E6D30CF-C44F-6508-CEC6-0295A5D0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FA9E7DC7-5202-F6CA-DD70-5F34FFD5D5DD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497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E9DBDD65-CE28-8DF0-032A-2D501F2C09CE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Drei verschiedene Regeltypen: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Control: Konfiguration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File / Watch: Datei-Überwachung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 err="1"/>
              <a:t>Syscall</a:t>
            </a:r>
            <a:r>
              <a:rPr lang="de-DE" dirty="0"/>
              <a:t>: Überwachung von Systemaufrufen / </a:t>
            </a:r>
            <a:r>
              <a:rPr lang="de-DE" dirty="0" err="1"/>
              <a:t>Syscalls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Anlegen von Regeln: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Nicht persistent mithilfe des </a:t>
            </a:r>
            <a:r>
              <a:rPr lang="de-DE" dirty="0" err="1"/>
              <a:t>Auditctl</a:t>
            </a:r>
            <a:r>
              <a:rPr lang="de-DE" dirty="0"/>
              <a:t> Tools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Persistente Regeln in Regelsets</a:t>
            </a:r>
          </a:p>
          <a:p>
            <a:pPr marL="1562093" lvl="2" indent="-342900">
              <a:buFont typeface="Arial" panose="020B0604020202020204" pitchFamily="34" charset="0"/>
              <a:buChar char="•"/>
            </a:pPr>
            <a:r>
              <a:rPr lang="de-DE" dirty="0"/>
              <a:t>Konfiguration in </a:t>
            </a:r>
            <a:r>
              <a:rPr lang="en-GB" b="1" dirty="0"/>
              <a:t>/etc/audit/</a:t>
            </a:r>
            <a:r>
              <a:rPr lang="en-GB" b="1" dirty="0" err="1"/>
              <a:t>audit.rules</a:t>
            </a:r>
            <a:r>
              <a:rPr lang="en-GB" dirty="0"/>
              <a:t> </a:t>
            </a:r>
            <a:endParaRPr lang="de-DE" dirty="0"/>
          </a:p>
          <a:p>
            <a:pPr marL="1562093" lvl="2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356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B96D-18CA-25A0-A212-C5538E66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706645E4-CFB2-9D4E-3732-46DB91BAF291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Regelerstellung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683C2F77-BE0F-C53B-BD0F-AC891B2F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8471ABC4-B3D4-2AC8-863E-1F3ED8068464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497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8AF3B5EF-74EB-8849-2A36-9CD2225EEB52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File Watch Regel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Überwachungsregeln die Aktionen (lesen, schreiben, ändern) auf Dateien oder </a:t>
            </a:r>
            <a:r>
              <a:rPr lang="de-DE" dirty="0" err="1"/>
              <a:t>Verzeichnise</a:t>
            </a:r>
            <a:r>
              <a:rPr lang="de-DE" dirty="0"/>
              <a:t> überwachen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b="1" dirty="0"/>
              <a:t>Aufbau: </a:t>
            </a:r>
            <a:r>
              <a:rPr lang="en-GB" dirty="0"/>
              <a:t>-w [path-to-file] -p [permissions] -k [</a:t>
            </a:r>
            <a:r>
              <a:rPr lang="en-GB" dirty="0" err="1"/>
              <a:t>keyname</a:t>
            </a:r>
            <a:r>
              <a:rPr lang="en-GB" dirty="0"/>
              <a:t>]</a:t>
            </a:r>
          </a:p>
          <a:p>
            <a:pPr lvl="2"/>
            <a:r>
              <a:rPr lang="en-GB" b="1" dirty="0"/>
              <a:t>-w</a:t>
            </a:r>
            <a:r>
              <a:rPr lang="en-GB" dirty="0"/>
              <a:t>: der </a:t>
            </a:r>
            <a:r>
              <a:rPr lang="en-GB" dirty="0" err="1"/>
              <a:t>Pfad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der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überwachenden</a:t>
            </a:r>
            <a:r>
              <a:rPr lang="en-GB" dirty="0"/>
              <a:t> </a:t>
            </a:r>
            <a:r>
              <a:rPr lang="en-GB" dirty="0" err="1"/>
              <a:t>Datei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Verzeichnis</a:t>
            </a:r>
            <a:r>
              <a:rPr lang="en-GB" dirty="0"/>
              <a:t>.</a:t>
            </a:r>
          </a:p>
          <a:p>
            <a:pPr lvl="2"/>
            <a:r>
              <a:rPr lang="en-GB" b="1" dirty="0"/>
              <a:t>-p</a:t>
            </a:r>
            <a:r>
              <a:rPr lang="en-GB" dirty="0"/>
              <a:t>: </a:t>
            </a:r>
            <a:r>
              <a:rPr lang="en-GB" dirty="0" err="1"/>
              <a:t>eine</a:t>
            </a:r>
            <a:r>
              <a:rPr lang="en-GB" dirty="0"/>
              <a:t> der </a:t>
            </a:r>
            <a:r>
              <a:rPr lang="en-GB" dirty="0" err="1"/>
              <a:t>Berechtigungen</a:t>
            </a:r>
            <a:r>
              <a:rPr lang="en-GB" dirty="0"/>
              <a:t> read (r), write (w), execute (e) </a:t>
            </a:r>
            <a:r>
              <a:rPr lang="en-GB" dirty="0" err="1"/>
              <a:t>oder</a:t>
            </a:r>
            <a:r>
              <a:rPr lang="en-GB" dirty="0"/>
              <a:t> change (a).</a:t>
            </a:r>
          </a:p>
          <a:p>
            <a:pPr lvl="2"/>
            <a:r>
              <a:rPr lang="en-GB" b="1" dirty="0"/>
              <a:t>-k</a:t>
            </a:r>
            <a:r>
              <a:rPr lang="en-GB" dirty="0"/>
              <a:t>: der Name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Schlüsselbezeichners</a:t>
            </a:r>
            <a:endParaRPr lang="en-GB" dirty="0"/>
          </a:p>
          <a:p>
            <a:pPr marL="895347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Beispiel</a:t>
            </a:r>
            <a:r>
              <a:rPr lang="en-GB" dirty="0"/>
              <a:t>:</a:t>
            </a:r>
          </a:p>
          <a:p>
            <a:pPr marL="1504943" lvl="2" indent="-285750">
              <a:buFont typeface="Arial" panose="020B0604020202020204" pitchFamily="34" charset="0"/>
              <a:buChar char="•"/>
            </a:pPr>
            <a:r>
              <a:rPr lang="en-GB" dirty="0" err="1"/>
              <a:t>Überwachung</a:t>
            </a:r>
            <a:r>
              <a:rPr lang="en-GB" dirty="0"/>
              <a:t> von Lese-, Schreib- und </a:t>
            </a:r>
            <a:r>
              <a:rPr lang="en-GB" dirty="0" err="1"/>
              <a:t>Änderungsvorgängen</a:t>
            </a:r>
            <a:r>
              <a:rPr lang="en-GB" dirty="0"/>
              <a:t> an der Shadow </a:t>
            </a:r>
            <a:r>
              <a:rPr lang="en-GB" dirty="0" err="1"/>
              <a:t>Datei</a:t>
            </a:r>
            <a:r>
              <a:rPr lang="en-GB" dirty="0"/>
              <a:t> </a:t>
            </a:r>
          </a:p>
          <a:p>
            <a:pPr marL="1504943" lvl="2" indent="-285750">
              <a:buFont typeface="Arial" panose="020B0604020202020204" pitchFamily="34" charset="0"/>
              <a:buChar char="•"/>
            </a:pPr>
            <a:r>
              <a:rPr lang="en-GB" dirty="0"/>
              <a:t>-w /etc/shadow -p </a:t>
            </a:r>
            <a:r>
              <a:rPr lang="en-GB" dirty="0" err="1"/>
              <a:t>rwa</a:t>
            </a:r>
            <a:r>
              <a:rPr lang="en-GB" dirty="0"/>
              <a:t> -k </a:t>
            </a:r>
            <a:r>
              <a:rPr lang="en-GB" dirty="0" err="1"/>
              <a:t>shadow_access</a:t>
            </a:r>
            <a:endParaRPr lang="en-GB" dirty="0"/>
          </a:p>
          <a:p>
            <a:pPr marL="895347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1562093" lvl="2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1562093" lvl="2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307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5EF49D3-68B7-DF93-E1A2-00B8351C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E26B4CE2-40EE-D784-9100-1A956CE0569B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Regelerstellung</a:t>
            </a:r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284AF4DB-C322-08DF-61A2-1547F9AB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B91AACAC-52F4-9ECE-FF00-BA6E96813B89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497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3B82F32E-BBAD-A620-EEA2-77C004CF764D}"/>
              </a:ext>
            </a:extLst>
          </p:cNvPr>
          <p:cNvSpPr txBox="1">
            <a:spLocks/>
          </p:cNvSpPr>
          <p:nvPr/>
        </p:nvSpPr>
        <p:spPr>
          <a:xfrm>
            <a:off x="748800" y="1809750"/>
            <a:ext cx="10758000" cy="4508500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0" indent="0" algn="l" defTabSz="1219194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1pPr>
            <a:lvl2pPr marL="609597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0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2pPr>
            <a:lvl3pPr marL="1219193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8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790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6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4pPr>
            <a:lvl5pPr marL="2438386" indent="0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1400" kern="120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defRPr>
            </a:lvl5pPr>
            <a:lvl6pPr marL="335278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77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974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570" indent="-304798" algn="l" defTabSz="1219194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Syscall</a:t>
            </a:r>
            <a:r>
              <a:rPr lang="de-DE" b="1" dirty="0"/>
              <a:t> Regel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dirty="0"/>
              <a:t>Überwachungsregeln welche Systemaufrufe überwachen um </a:t>
            </a:r>
            <a:r>
              <a:rPr lang="de-DE" dirty="0" err="1"/>
              <a:t>detailiert</a:t>
            </a:r>
            <a:r>
              <a:rPr lang="de-DE" dirty="0"/>
              <a:t> eine Nachverfolgung von Aktivitäten ermöglichen</a:t>
            </a:r>
          </a:p>
          <a:p>
            <a:pPr marL="952497" lvl="1" indent="-342900">
              <a:buFont typeface="Arial" panose="020B0604020202020204" pitchFamily="34" charset="0"/>
              <a:buChar char="•"/>
            </a:pPr>
            <a:r>
              <a:rPr lang="de-DE" b="1" dirty="0"/>
              <a:t>Aufbau: </a:t>
            </a:r>
            <a:r>
              <a:rPr lang="en-GB" dirty="0"/>
              <a:t>-a [action],[filter] -S [</a:t>
            </a:r>
            <a:r>
              <a:rPr lang="en-GB" dirty="0" err="1"/>
              <a:t>syscall</a:t>
            </a:r>
            <a:r>
              <a:rPr lang="en-GB" dirty="0"/>
              <a:t>] -F [field=value] -k [</a:t>
            </a:r>
            <a:r>
              <a:rPr lang="en-GB" dirty="0" err="1"/>
              <a:t>keyname</a:t>
            </a:r>
            <a:r>
              <a:rPr lang="en-GB" dirty="0"/>
              <a:t>]</a:t>
            </a:r>
            <a:endParaRPr lang="de-DE" b="1" dirty="0"/>
          </a:p>
          <a:p>
            <a:pPr lvl="2"/>
            <a:r>
              <a:rPr lang="en-GB" b="1" dirty="0"/>
              <a:t>-action</a:t>
            </a:r>
            <a:r>
              <a:rPr lang="en-GB" dirty="0"/>
              <a:t>: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dirty="0" err="1"/>
              <a:t>Optionen</a:t>
            </a:r>
            <a:r>
              <a:rPr lang="en-GB" dirty="0"/>
              <a:t> “always” </a:t>
            </a:r>
            <a:r>
              <a:rPr lang="en-GB" dirty="0" err="1"/>
              <a:t>oder</a:t>
            </a:r>
            <a:r>
              <a:rPr lang="en-GB" dirty="0"/>
              <a:t> “never” </a:t>
            </a:r>
            <a:r>
              <a:rPr lang="en-GB" dirty="0" err="1"/>
              <a:t>definiert</a:t>
            </a:r>
            <a:r>
              <a:rPr lang="en-GB" dirty="0"/>
              <a:t> </a:t>
            </a:r>
            <a:r>
              <a:rPr lang="en-GB" dirty="0" err="1"/>
              <a:t>ob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Ereignis</a:t>
            </a:r>
            <a:r>
              <a:rPr lang="en-GB" dirty="0"/>
              <a:t> </a:t>
            </a:r>
            <a:r>
              <a:rPr lang="en-GB" dirty="0" err="1"/>
              <a:t>erstellt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</a:t>
            </a:r>
            <a:endParaRPr lang="en-GB" dirty="0"/>
          </a:p>
          <a:p>
            <a:pPr lvl="2"/>
            <a:r>
              <a:rPr lang="en-GB" b="1" dirty="0"/>
              <a:t>-filter</a:t>
            </a:r>
            <a:r>
              <a:rPr lang="en-GB" dirty="0"/>
              <a:t>: </a:t>
            </a:r>
            <a:r>
              <a:rPr lang="en-GB" dirty="0" err="1"/>
              <a:t>legt</a:t>
            </a:r>
            <a:r>
              <a:rPr lang="en-GB" dirty="0"/>
              <a:t> fest ab </a:t>
            </a:r>
            <a:r>
              <a:rPr lang="en-GB" dirty="0" err="1"/>
              <a:t>welchem</a:t>
            </a:r>
            <a:r>
              <a:rPr lang="en-GB" dirty="0"/>
              <a:t> </a:t>
            </a:r>
            <a:r>
              <a:rPr lang="en-GB" dirty="0" err="1"/>
              <a:t>Punkt</a:t>
            </a:r>
            <a:r>
              <a:rPr lang="en-GB" dirty="0"/>
              <a:t> das </a:t>
            </a:r>
            <a:r>
              <a:rPr lang="en-GB" dirty="0" err="1"/>
              <a:t>Ereignis</a:t>
            </a:r>
            <a:r>
              <a:rPr lang="en-GB" dirty="0"/>
              <a:t> </a:t>
            </a:r>
            <a:r>
              <a:rPr lang="en-GB" dirty="0" err="1"/>
              <a:t>erstellt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</a:t>
            </a:r>
            <a:r>
              <a:rPr lang="en-GB" dirty="0"/>
              <a:t>	</a:t>
            </a:r>
          </a:p>
          <a:p>
            <a:pPr lvl="2"/>
            <a:r>
              <a:rPr lang="en-GB" b="1" dirty="0"/>
              <a:t>-S: </a:t>
            </a:r>
            <a:r>
              <a:rPr lang="en-GB" dirty="0"/>
              <a:t>der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überwachende</a:t>
            </a:r>
            <a:r>
              <a:rPr lang="en-GB" dirty="0"/>
              <a:t> </a:t>
            </a:r>
            <a:r>
              <a:rPr lang="en-GB" dirty="0" err="1"/>
              <a:t>Systemaufruf</a:t>
            </a:r>
            <a:endParaRPr lang="en-GB" dirty="0"/>
          </a:p>
          <a:p>
            <a:pPr lvl="2"/>
            <a:r>
              <a:rPr lang="en-GB" b="1" dirty="0"/>
              <a:t>-F: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Filter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Auswahl</a:t>
            </a:r>
            <a:r>
              <a:rPr lang="en-GB" dirty="0"/>
              <a:t> der </a:t>
            </a:r>
            <a:r>
              <a:rPr lang="en-GB" dirty="0" err="1"/>
              <a:t>Übereinstimmungen</a:t>
            </a:r>
            <a:endParaRPr lang="en-GB" dirty="0"/>
          </a:p>
          <a:p>
            <a:pPr lvl="2"/>
            <a:r>
              <a:rPr lang="en-GB" b="1" dirty="0"/>
              <a:t>-k: </a:t>
            </a:r>
            <a:r>
              <a:rPr lang="en-GB" dirty="0"/>
              <a:t>der Name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Schlüsselbezeichners</a:t>
            </a:r>
            <a:endParaRPr lang="en-GB" dirty="0"/>
          </a:p>
          <a:p>
            <a:pPr marL="895347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Beispiel</a:t>
            </a:r>
            <a:r>
              <a:rPr lang="en-GB" dirty="0"/>
              <a:t>:</a:t>
            </a:r>
          </a:p>
          <a:p>
            <a:pPr marL="1504943" lvl="2" indent="-285750">
              <a:buFont typeface="Arial" panose="020B0604020202020204" pitchFamily="34" charset="0"/>
              <a:buChar char="•"/>
            </a:pPr>
            <a:r>
              <a:rPr lang="en-GB" dirty="0" err="1"/>
              <a:t>Überwachung</a:t>
            </a:r>
            <a:r>
              <a:rPr lang="en-GB" dirty="0"/>
              <a:t> Mount </a:t>
            </a:r>
            <a:r>
              <a:rPr lang="en-GB" dirty="0" err="1"/>
              <a:t>Vorgängen</a:t>
            </a:r>
            <a:endParaRPr lang="en-GB" dirty="0"/>
          </a:p>
          <a:p>
            <a:pPr marL="1504943" lvl="2" indent="-285750">
              <a:buFont typeface="Arial" panose="020B0604020202020204" pitchFamily="34" charset="0"/>
              <a:buChar char="•"/>
            </a:pPr>
            <a:r>
              <a:rPr lang="en-GB" dirty="0"/>
              <a:t>-a </a:t>
            </a:r>
            <a:r>
              <a:rPr lang="en-GB" dirty="0" err="1"/>
              <a:t>always,exit</a:t>
            </a:r>
            <a:r>
              <a:rPr lang="en-GB" dirty="0"/>
              <a:t> -F arch=b64 -S mount -S umount2 -F </a:t>
            </a:r>
            <a:r>
              <a:rPr lang="en-GB" dirty="0" err="1"/>
              <a:t>auid</a:t>
            </a:r>
            <a:r>
              <a:rPr lang="en-GB" dirty="0"/>
              <a:t>!=-1 -k mount</a:t>
            </a:r>
          </a:p>
          <a:p>
            <a:pPr marL="895347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1562093" lvl="2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1562093" lvl="2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6875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3">
            <a:extLst>
              <a:ext uri="{FF2B5EF4-FFF2-40B4-BE49-F238E27FC236}">
                <a16:creationId xmlns:a16="http://schemas.microsoft.com/office/drawing/2014/main" id="{CD5A64AC-B501-56F8-B69E-466D2E85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481B5D81-0B57-4E14-F075-CC04E1C3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0" y="1828800"/>
            <a:ext cx="10605600" cy="4337050"/>
          </a:xfrm>
        </p:spPr>
        <p:txBody>
          <a:bodyPr>
            <a:normAutofit/>
          </a:bodyPr>
          <a:lstStyle/>
          <a:p>
            <a:pPr marL="342900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Auditd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hat einige Events, die standardmäßig geloggt werden:</a:t>
            </a:r>
          </a:p>
          <a:p>
            <a:pPr marL="952497" lvl="1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CONFIG_CHANGE</a:t>
            </a:r>
          </a:p>
          <a:p>
            <a:pPr marL="952497" lvl="1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USER_LOGIN</a:t>
            </a:r>
          </a:p>
          <a:p>
            <a:pPr marL="952497" lvl="1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SERVICE_START / SERVICE_STOP</a:t>
            </a:r>
          </a:p>
          <a:p>
            <a:pPr marL="952497" lvl="1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ADD_GROUP, DELETE_GROUP</a:t>
            </a:r>
          </a:p>
          <a:p>
            <a:pPr marL="952497" lvl="1" indent="-342900" defTabSz="1219194">
              <a:spcBef>
                <a:spcPts val="667"/>
              </a:spcBef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Doku: https://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access.redhat.com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articles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/4409591#audit-record-types-2</a:t>
            </a:r>
          </a:p>
          <a:p>
            <a:pPr marL="342900" indent="-342900" defTabSz="1219194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de-DE" sz="2000" b="1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Beispiel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marL="800100" lvl="1" indent="-342900" defTabSz="1219194">
              <a:spcBef>
                <a:spcPts val="667"/>
              </a:spcBef>
            </a:pP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type=USER_LOGIN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msg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audit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(1765285888.048:226):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pid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=184436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uid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=0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auid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=1000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ses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=1335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subj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unconfined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msg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='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op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login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=1000 exe="/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usr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sbin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sshd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"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hostname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=10.21.240.42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addr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=10.21.240.42 terminal=/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dev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pts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/0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res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success'UID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="root" AUID="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daniel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" ID="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daniel</a:t>
            </a:r>
            <a:r>
              <a:rPr lang="de-DE" sz="2000" dirty="0">
                <a:solidFill>
                  <a:srgbClr val="706F6F"/>
                </a:solidFill>
                <a:latin typeface="Arial" charset="0"/>
                <a:ea typeface="Arial" charset="0"/>
                <a:cs typeface="Arial" charset="0"/>
              </a:rPr>
              <a:t>"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CD9299A-9F20-8873-63DA-E5157CB0F2F6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Hardwired</a:t>
            </a:r>
            <a:r>
              <a:rPr lang="de-DE" dirty="0"/>
              <a:t> Events</a:t>
            </a:r>
          </a:p>
        </p:txBody>
      </p:sp>
    </p:spTree>
    <p:extLst>
      <p:ext uri="{BB962C8B-B14F-4D97-AF65-F5344CB8AC3E}">
        <p14:creationId xmlns:p14="http://schemas.microsoft.com/office/powerpoint/2010/main" val="1337891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3147-EF23-1445-3827-286E2CF6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3">
            <a:extLst>
              <a:ext uri="{FF2B5EF4-FFF2-40B4-BE49-F238E27FC236}">
                <a16:creationId xmlns:a16="http://schemas.microsoft.com/office/drawing/2014/main" id="{CD77E9C2-DAD7-AE0A-7F87-2C99E296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350301A3-F1ED-E840-7807-777770A0E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0" y="1828800"/>
            <a:ext cx="10605600" cy="43370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Regelset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 aus dem Repo von Florian Roth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Dient nur als Demozweck und muss im Vorfeld auf die eigene Umgebung angepasst werden</a:t>
            </a:r>
          </a:p>
          <a:p>
            <a:pPr marL="342900" indent="-342900"/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Quelle: 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https://github.com/Neo23x0/auditd/blob/master/audit.rules</a:t>
            </a:r>
            <a:endParaRPr lang="de-DE" sz="20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342900" indent="-34290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2DB131A-CD3B-6BDE-5FE3-BE124D543CB6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Beispiel </a:t>
            </a:r>
            <a:r>
              <a:rPr lang="de-DE" dirty="0" err="1"/>
              <a:t>Ruleset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5D404-DA36-BCCB-E80F-172835D71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95" y="3460370"/>
            <a:ext cx="6868099" cy="238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3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F16B-FDD8-8CEA-B123-0406DEA1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3">
            <a:extLst>
              <a:ext uri="{FF2B5EF4-FFF2-40B4-BE49-F238E27FC236}">
                <a16:creationId xmlns:a16="http://schemas.microsoft.com/office/drawing/2014/main" id="{290E2003-990E-888E-B058-7C975239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768B5AD7-16E9-9653-A564-F1D502FF3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0" y="1828800"/>
            <a:ext cx="10605600" cy="433705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Analyse einer File Write Operation:</a:t>
            </a:r>
          </a:p>
          <a:p>
            <a:pPr marL="800100" lvl="1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Anlegen der Regel: „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auditctl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-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w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tmp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-p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w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-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k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testfile_write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“</a:t>
            </a:r>
          </a:p>
          <a:p>
            <a:pPr marL="800100" lvl="1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Anlegen des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: „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tmt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“</a:t>
            </a:r>
          </a:p>
          <a:p>
            <a:pPr marL="800100" lvl="1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Suche in Audit Log: „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var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/log/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audit.log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|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grep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“</a:t>
            </a:r>
          </a:p>
          <a:p>
            <a:pPr marL="457200" lvl="1" indent="0">
              <a:buNone/>
            </a:pP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457200" lvl="1" indent="0">
              <a:buNone/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</a:t>
            </a:r>
            <a:r>
              <a:rPr lang="de-DE" sz="1600" dirty="0">
                <a:solidFill>
                  <a:srgbClr val="706F6F"/>
                </a:solidFill>
                <a:highlight>
                  <a:srgbClr val="FFFF00"/>
                </a:highlight>
                <a:latin typeface="Arial" charset="0"/>
                <a:cs typeface="Arial" charset="0"/>
              </a:rPr>
              <a:t>SYSCALL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</a:t>
            </a:r>
            <a:r>
              <a:rPr lang="de-DE" sz="1600" dirty="0">
                <a:solidFill>
                  <a:srgbClr val="706F6F"/>
                </a:solidFill>
                <a:highlight>
                  <a:srgbClr val="00FF00"/>
                </a:highlight>
                <a:latin typeface="Arial" charset="0"/>
                <a:cs typeface="Arial" charset="0"/>
              </a:rPr>
              <a:t>1765371132.094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:</a:t>
            </a:r>
            <a:r>
              <a:rPr lang="de-DE" sz="1600" dirty="0">
                <a:solidFill>
                  <a:srgbClr val="706F6F"/>
                </a:solidFill>
                <a:highlight>
                  <a:srgbClr val="00FFFF"/>
                </a:highlight>
                <a:latin typeface="Arial" charset="0"/>
                <a:cs typeface="Arial" charset="0"/>
              </a:rPr>
              <a:t>1944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):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arch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=c000003e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syscall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=257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success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yes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exit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=3 a0=ffffff9c a1=7ffd2eb1e619 a2=941 a3=1b6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items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ppid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=206239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pid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=206888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fsuid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fsgid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=1000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tty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=pts0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ses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=1504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comm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exe="/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usr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/bin/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subj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unconfined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key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testfile_write"ARCH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=x86_64 SYSCALL=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openat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AUID="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UID="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GID="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EUID="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SUID="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FSUID="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EGID="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SGID="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" FSGID="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“</a:t>
            </a:r>
          </a:p>
          <a:p>
            <a:pPr marL="457200" lvl="1" indent="0">
              <a:buNone/>
            </a:pP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800100" lvl="1" indent="-342900">
              <a:lnSpc>
                <a:spcPct val="100000"/>
              </a:lnSpc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Event Typ (gelb)</a:t>
            </a:r>
          </a:p>
          <a:p>
            <a:pPr marL="800100" lvl="1" indent="-342900">
              <a:lnSpc>
                <a:spcPct val="100000"/>
              </a:lnSpc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Zeitstempel im Unix Format (grün)</a:t>
            </a:r>
          </a:p>
          <a:p>
            <a:pPr marL="800100" lvl="1" indent="-342900">
              <a:lnSpc>
                <a:spcPct val="100000"/>
              </a:lnSpc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Audit ID gruppiert Logs (türkis)</a:t>
            </a:r>
          </a:p>
          <a:p>
            <a:pPr marL="800100" lvl="1" indent="-342900">
              <a:lnSpc>
                <a:spcPct val="100000"/>
              </a:lnSpc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Sehr unübersichtlich und schwer lesbar</a:t>
            </a:r>
          </a:p>
          <a:p>
            <a:pPr marL="342900" indent="-34290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756A0E13-8AED-76AA-A389-55B8BBC512D0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Beispiel File Watch</a:t>
            </a:r>
          </a:p>
        </p:txBody>
      </p:sp>
    </p:spTree>
    <p:extLst>
      <p:ext uri="{BB962C8B-B14F-4D97-AF65-F5344CB8AC3E}">
        <p14:creationId xmlns:p14="http://schemas.microsoft.com/office/powerpoint/2010/main" val="339137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F8ED-09F9-EB9E-6474-0BD117B8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3">
            <a:extLst>
              <a:ext uri="{FF2B5EF4-FFF2-40B4-BE49-F238E27FC236}">
                <a16:creationId xmlns:a16="http://schemas.microsoft.com/office/drawing/2014/main" id="{68838AB5-5856-CEF8-6B67-4A5CCEDA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D02963B9-6C5C-E838-CE59-16A1E532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0" y="1828800"/>
            <a:ext cx="10605600" cy="4669200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root@hive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:~#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ausearch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-i -a 1944</a:t>
            </a:r>
          </a:p>
          <a:p>
            <a:pPr marL="342900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type=PROCTITLE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(12/10/2025 12:52:12.094:1944) :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proctitle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800100" lvl="1" indent="-342900"/>
            <a:r>
              <a:rPr lang="de-DE" sz="1200" dirty="0">
                <a:solidFill>
                  <a:srgbClr val="FF0000"/>
                </a:solidFill>
                <a:latin typeface="Arial" charset="0"/>
                <a:cs typeface="Arial" charset="0"/>
              </a:rPr>
              <a:t>Ausgeführtes Kommando</a:t>
            </a:r>
          </a:p>
          <a:p>
            <a:pPr marL="342900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type=PATH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(12/10/2025 12:52:12.094:1944) : item=1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name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inode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=5373998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dev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=fc:00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mode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=file,664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rdev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=00:00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nametype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=CREATE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cap_fp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none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cap_fi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none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cap_fver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cap_frootid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</a:t>
            </a:r>
          </a:p>
          <a:p>
            <a:pPr marL="800100" lvl="1" indent="-342900"/>
            <a:r>
              <a:rPr lang="de-DE" sz="1200" dirty="0">
                <a:solidFill>
                  <a:srgbClr val="FF0000"/>
                </a:solidFill>
                <a:latin typeface="Arial" charset="0"/>
                <a:cs typeface="Arial" charset="0"/>
              </a:rPr>
              <a:t>Dateiname</a:t>
            </a:r>
          </a:p>
          <a:p>
            <a:pPr marL="342900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type=PATH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(12/10/2025 12:52:12.094:1944) : item=0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name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tmp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inode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=5373953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dev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=fc:00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mode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=dir,sticky,777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=root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=root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rdev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=00:00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nametype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=PARENT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cap_fp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none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cap_fi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none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cap_fver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cap_frootid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=0</a:t>
            </a:r>
          </a:p>
          <a:p>
            <a:pPr marL="800100" lvl="1" indent="-342900"/>
            <a:r>
              <a:rPr lang="de-DE" sz="1200" dirty="0">
                <a:solidFill>
                  <a:srgbClr val="FF0000"/>
                </a:solidFill>
                <a:latin typeface="Arial" charset="0"/>
                <a:cs typeface="Arial" charset="0"/>
              </a:rPr>
              <a:t>Ordner</a:t>
            </a:r>
          </a:p>
          <a:p>
            <a:pPr marL="342900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type=CWD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(12/10/2025 12:52:12.094:1944) :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cwd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tmp</a:t>
            </a: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800100" lvl="1" indent="-342900"/>
            <a:r>
              <a:rPr lang="de-DE" sz="1200" dirty="0" err="1">
                <a:solidFill>
                  <a:srgbClr val="FF0000"/>
                </a:solidFill>
                <a:latin typeface="Arial" charset="0"/>
                <a:cs typeface="Arial" charset="0"/>
              </a:rPr>
              <a:t>Current</a:t>
            </a:r>
            <a:r>
              <a:rPr lang="de-DE" sz="1200" dirty="0">
                <a:solidFill>
                  <a:srgbClr val="FF0000"/>
                </a:solidFill>
                <a:latin typeface="Arial" charset="0"/>
                <a:cs typeface="Arial" charset="0"/>
              </a:rPr>
              <a:t> Working Directory</a:t>
            </a:r>
          </a:p>
          <a:p>
            <a:pPr marL="342900" indent="-342900"/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type=SYSCALL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msg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(12/10/2025 12:52:12.094:1944) :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arch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=x86_64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syscall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openat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success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yes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exit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=3 a0=AT_FDCWD a1=0x7ffd2eb1e619 a2=O_WRONLY|O_CREAT|O_NOCTTY|O_NONBLOCK a3=0x1b6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items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ppid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=206239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pid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=206888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fsuid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fsgid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tty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=pts0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ses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=1504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comm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exe=/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usr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/bin/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touch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subj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unconfined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key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testfile_write</a:t>
            </a: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800100" lvl="1" indent="-342900"/>
            <a:r>
              <a:rPr lang="de-DE" sz="1200" dirty="0" err="1">
                <a:solidFill>
                  <a:srgbClr val="FF0000"/>
                </a:solidFill>
                <a:latin typeface="Arial" charset="0"/>
                <a:cs typeface="Arial" charset="0"/>
              </a:rPr>
              <a:t>Syscall</a:t>
            </a:r>
            <a:endParaRPr lang="de-DE" sz="12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7164AD2-0207-3841-429A-2371EB32D46B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Beispiel File Watch</a:t>
            </a:r>
          </a:p>
        </p:txBody>
      </p:sp>
    </p:spTree>
    <p:extLst>
      <p:ext uri="{BB962C8B-B14F-4D97-AF65-F5344CB8AC3E}">
        <p14:creationId xmlns:p14="http://schemas.microsoft.com/office/powerpoint/2010/main" val="8208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1A307-CFF5-14F2-81BE-45040BFD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3">
            <a:extLst>
              <a:ext uri="{FF2B5EF4-FFF2-40B4-BE49-F238E27FC236}">
                <a16:creationId xmlns:a16="http://schemas.microsoft.com/office/drawing/2014/main" id="{BC401C9B-FF06-C6CB-45C2-1A306242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360000"/>
            <a:ext cx="10605600" cy="576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Linux Audit System (Auditd)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3798311D-2E5D-1CB7-8279-4CD4C5A4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0" y="1828800"/>
            <a:ext cx="10605600" cy="4337050"/>
          </a:xfrm>
        </p:spPr>
        <p:txBody>
          <a:bodyPr>
            <a:normAutofit/>
          </a:bodyPr>
          <a:lstStyle/>
          <a:p>
            <a:pPr marL="342900" indent="-342900"/>
            <a:r>
              <a:rPr lang="de-DE" sz="2000" b="1" dirty="0">
                <a:solidFill>
                  <a:srgbClr val="706F6F"/>
                </a:solidFill>
                <a:latin typeface="Arial" charset="0"/>
                <a:cs typeface="Arial" charset="0"/>
              </a:rPr>
              <a:t>Beispiel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:</a:t>
            </a:r>
          </a:p>
          <a:p>
            <a:pPr marL="800100" lvl="2" indent="-342900">
              <a:spcBef>
                <a:spcPts val="1000"/>
              </a:spcBef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Login mit User</a:t>
            </a:r>
          </a:p>
          <a:p>
            <a:pPr marL="800100" lvl="2" indent="-342900">
              <a:spcBef>
                <a:spcPts val="1000"/>
              </a:spcBef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Auslesen von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Auditd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Konfiguration</a:t>
            </a:r>
          </a:p>
          <a:p>
            <a:pPr marL="800100" lvl="2" indent="-342900">
              <a:spcBef>
                <a:spcPts val="1000"/>
              </a:spcBef>
            </a:pP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Stumpfe SPL:</a:t>
            </a:r>
            <a:b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</a:b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	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index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main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sourcetype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linux_audit</a:t>
            </a:r>
            <a:r>
              <a:rPr lang="de-DE" sz="1600" dirty="0">
                <a:solidFill>
                  <a:srgbClr val="706F6F"/>
                </a:solidFill>
                <a:latin typeface="Arial" charset="0"/>
                <a:cs typeface="Arial" charset="0"/>
              </a:rPr>
              <a:t> AUID=</a:t>
            </a:r>
            <a:r>
              <a:rPr lang="de-DE" sz="1600" dirty="0" err="1">
                <a:solidFill>
                  <a:srgbClr val="706F6F"/>
                </a:solidFill>
                <a:latin typeface="Arial" charset="0"/>
                <a:cs typeface="Arial" charset="0"/>
              </a:rPr>
              <a:t>daniel</a:t>
            </a:r>
            <a:endParaRPr lang="de-DE" sz="1600" dirty="0">
              <a:solidFill>
                <a:srgbClr val="706F6F"/>
              </a:solidFill>
              <a:latin typeface="Arial" charset="0"/>
              <a:cs typeface="Arial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de-DE" dirty="0">
                <a:solidFill>
                  <a:srgbClr val="706F6F"/>
                </a:solidFill>
                <a:latin typeface="Arial" charset="0"/>
                <a:cs typeface="Arial" charset="0"/>
              </a:rPr>
              <a:t>	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|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table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 _time, host, type,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syscall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,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success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,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comm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,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exe,key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 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acct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, 		</a:t>
            </a:r>
            <a:r>
              <a:rPr lang="de-DE" sz="2000" dirty="0" err="1">
                <a:solidFill>
                  <a:srgbClr val="706F6F"/>
                </a:solidFill>
                <a:latin typeface="Arial" charset="0"/>
                <a:cs typeface="Arial" charset="0"/>
              </a:rPr>
              <a:t>hostname,addr,terminal,res,UID</a:t>
            </a:r>
            <a:r>
              <a:rPr lang="de-DE" sz="2000" dirty="0">
                <a:solidFill>
                  <a:srgbClr val="706F6F"/>
                </a:solidFill>
                <a:latin typeface="Arial" charset="0"/>
                <a:cs typeface="Arial" charset="0"/>
              </a:rPr>
              <a:t>, AUID</a:t>
            </a:r>
          </a:p>
          <a:p>
            <a:pPr marL="800100" lvl="1" indent="-34290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699D90C-83CD-EBE4-D545-9726B5BFEC9C}"/>
              </a:ext>
            </a:extLst>
          </p:cNvPr>
          <p:cNvSpPr txBox="1">
            <a:spLocks/>
          </p:cNvSpPr>
          <p:nvPr/>
        </p:nvSpPr>
        <p:spPr>
          <a:xfrm>
            <a:off x="748800" y="1008000"/>
            <a:ext cx="106056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Beispiel </a:t>
            </a:r>
            <a:r>
              <a:rPr lang="de-DE" dirty="0" err="1"/>
              <a:t>Ruleset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AA9CF-CB72-9B39-C250-12AEE511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56" y="4611600"/>
            <a:ext cx="7772400" cy="173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3111</TotalTime>
  <Words>1216</Words>
  <Application>Microsoft Macintosh PowerPoint</Application>
  <PresentationFormat>Widescreen</PresentationFormat>
  <Paragraphs>108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Das Linux Audit System (Auditd)</vt:lpstr>
      <vt:lpstr>Das Linux Audit System (Auditd)</vt:lpstr>
      <vt:lpstr>Das Linux Audit System (Auditd)</vt:lpstr>
      <vt:lpstr>Das Linux Audit System (Auditd)</vt:lpstr>
      <vt:lpstr>Das Linux Audit System (Auditd)</vt:lpstr>
      <vt:lpstr>Das Linux Audit System (Auditd)</vt:lpstr>
      <vt:lpstr>Das Linux Audit System (Auditd)</vt:lpstr>
      <vt:lpstr>Das Linux Audit System (Auditd)</vt:lpstr>
      <vt:lpstr>Das Linux Audit System (Auditd)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Amlung</dc:creator>
  <cp:lastModifiedBy>Daniel Amlung</cp:lastModifiedBy>
  <cp:revision>9</cp:revision>
  <dcterms:created xsi:type="dcterms:W3CDTF">2025-12-09T08:40:23Z</dcterms:created>
  <dcterms:modified xsi:type="dcterms:W3CDTF">2025-12-12T10:52:41Z</dcterms:modified>
</cp:coreProperties>
</file>